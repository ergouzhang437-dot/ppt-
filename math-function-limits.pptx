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388" y="-914398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28" y="-548638"/>
            <a:ext cx="1097280" cy="10972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85798" y="-685794"/>
            <a:ext cx="1371600" cy="13716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lang="zh-CN">
                <a:solidFill>
                  <a:srgbClr val="FFFFFF"/>
                </a:solidFill>
                <a:latin typeface="Microsoft YaHei"/>
              </a:rPr>
              <a:t>数学分析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lang="zh-CN">
                <a:solidFill>
                  <a:srgbClr val="02C39A"/>
                </a:solidFill>
                <a:latin typeface="Microsoft YaHei"/>
              </a:rPr>
              <a:t>函数极限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en-US">
                <a:solidFill>
                  <a:srgbClr val="6B7B8D"/>
                </a:solidFill>
                <a:latin typeface="Calibri"/>
              </a:rPr>
              <a:t>Limits of Functions in Mathematical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8288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lang="zh-CN">
                <a:solidFill>
                  <a:srgbClr val="6B7B8D"/>
                </a:solidFill>
                <a:latin typeface="Calibri"/>
              </a:rPr>
              <a:t>2026 - 数学基础课程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41148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lang="zh-CN">
                <a:solidFill>
                  <a:srgbClr val="FFFFFF"/>
                </a:solidFill>
                <a:latin typeface="Microsoft YaHei"/>
              </a:rPr>
              <a:t>函数极限的定义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91440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zh-CN">
                <a:solidFill>
                  <a:srgbClr val="1E1E2E"/>
                </a:solidFill>
                <a:latin typeface="Microsoft YaHei"/>
              </a:rPr>
              <a:t>设函数 f(x) 在点 x0 的某个去心邻域内有定义。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zh-CN">
                <a:solidFill>
                  <a:srgbClr val="1E1E2E"/>
                </a:solidFill>
                <a:latin typeface="Microsoft YaHei"/>
              </a:rPr>
              <a:t>如果存在常数 A，对于任意给定的 eps &gt; 0，总存在 delta &gt; 0，使得当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zh-CN">
                <a:solidFill>
                  <a:srgbClr val="1E2761"/>
                </a:solidFill>
                <a:latin typeface="Cambria"/>
              </a:rPr>
              <a:t>0 &lt; |x - x0| &lt; delta  时，有  |f(x) - A| &lt; 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zh-CN">
                <a:solidFill>
                  <a:srgbClr val="1E1E2E"/>
                </a:solidFill>
                <a:latin typeface="Microsoft YaHei"/>
              </a:rPr>
              <a:t>则称 A 为函数 f(x) 当 x -&gt; x0 时的极限，记作：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lang="en-US">
                <a:solidFill>
                  <a:srgbClr val="00A896"/>
                </a:solidFill>
                <a:latin typeface="Cambria"/>
              </a:rPr>
              <a:t>lim(x-&gt;x0) f(x) =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4937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73152" cy="18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1E1E2E"/>
                </a:solidFill>
                <a:latin typeface="Microsoft YaHei"/>
              </a:rPr>
              <a:t>要点说明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lang="zh-CN">
                <a:solidFill>
                  <a:srgbClr val="1E1E2E"/>
                </a:solidFill>
                <a:latin typeface="Microsoft YaHei"/>
              </a:rPr>
              <a:t>eps 可以任意小（体现无限接近）</a:t>
            </a:r>
          </a:p>
          <a:p>
            <a:pPr>
              <a:spcAft>
                <a:spcPts val="1200"/>
              </a:spcAft>
            </a:pPr>
            <a:r>
              <a:rPr sz="1400" lang="zh-CN">
                <a:solidFill>
                  <a:srgbClr val="1E1E2E"/>
                </a:solidFill>
                <a:latin typeface="Microsoft YaHei"/>
              </a:rPr>
              <a:t>delta 依赖于 eps 的选择</a:t>
            </a:r>
          </a:p>
          <a:p>
            <a:pPr>
              <a:spcAft>
                <a:spcPts val="1200"/>
              </a:spcAft>
            </a:pPr>
            <a:r>
              <a:rPr sz="1400" lang="zh-CN">
                <a:solidFill>
                  <a:srgbClr val="1E1E2E"/>
                </a:solidFill>
                <a:latin typeface="Microsoft YaHei"/>
              </a:rPr>
              <a:t>x != x0（去心邻域，不关心该点的函数值）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38912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4389120"/>
            <a:ext cx="73152" cy="1828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1E1E2E"/>
                </a:solidFill>
                <a:latin typeface="Microsoft YaHei"/>
              </a:rPr>
              <a:t>几何意义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lang="zh-CN">
                <a:solidFill>
                  <a:srgbClr val="1E1E2E"/>
                </a:solidFill>
                <a:latin typeface="Microsoft YaHei"/>
              </a:rPr>
              <a:t>eps 决定了 f(x) 的允许误差带宽度</a:t>
            </a:r>
          </a:p>
          <a:p>
            <a:pPr>
              <a:spcAft>
                <a:spcPts val="1200"/>
              </a:spcAft>
            </a:pPr>
            <a:r>
              <a:rPr sz="1400" lang="zh-CN">
                <a:solidFill>
                  <a:srgbClr val="1E1E2E"/>
                </a:solidFill>
                <a:latin typeface="Microsoft YaHei"/>
              </a:rPr>
              <a:t>delta 决定了 x 需要靠近 x0 的程度</a:t>
            </a:r>
          </a:p>
          <a:p>
            <a:pPr>
              <a:spcAft>
                <a:spcPts val="1200"/>
              </a:spcAft>
            </a:pPr>
            <a:r>
              <a:rPr sz="1400" lang="zh-CN">
                <a:solidFill>
                  <a:srgbClr val="1E1E2E"/>
                </a:solidFill>
                <a:latin typeface="Microsoft YaHei"/>
              </a:rPr>
              <a:t>图像上：曲线最终被限制在 A+-eps 的水平条带内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41148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lang="zh-CN">
                <a:solidFill>
                  <a:srgbClr val="FFFFFF"/>
                </a:solidFill>
                <a:latin typeface="Microsoft YaHei"/>
              </a:rPr>
              <a:t>函数极限的基本性质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91440" cy="2103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Microsoft YaHei"/>
              </a:rPr>
              <a:t>唯一性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若极限存在，则极限值唯一。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zh-CN">
                <a:solidFill>
                  <a:srgbClr val="6B7B8D"/>
                </a:solidFill>
                <a:latin typeface="Microsoft YaHei"/>
              </a:rPr>
              <a:t>函数在同一趋近过程下不能有两个不同的极限值。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91440" cy="2103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Microsoft YaHei"/>
              </a:rPr>
              <a:t>局部有界性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若极限 = A，则 f(x) 在某去心邻域内有界。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zh-CN">
                <a:solidFill>
                  <a:srgbClr val="6B7B8D"/>
                </a:solidFill>
                <a:latin typeface="Microsoft YaHei"/>
              </a:rPr>
              <a:t>存在 M&gt;0 和 delta&gt;0，使 |f(x)| &lt;= M。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91440" cy="2103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Microsoft YaHei"/>
              </a:rPr>
              <a:t>局部保号性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若极限 = A &gt; 0，则在 x0 附近 f(x) &gt; 0。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zh-CN">
                <a:solidFill>
                  <a:srgbClr val="6B7B8D"/>
                </a:solidFill>
                <a:latin typeface="Microsoft YaHei"/>
              </a:rPr>
              <a:t>极限的正负号决定了函数在趋近点附近的符号。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91440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Microsoft YaHei"/>
              </a:rPr>
              <a:t>四则运算法则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极限运算与加减乘除可交换顺序。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en-US">
                <a:solidFill>
                  <a:srgbClr val="6B7B8D"/>
                </a:solidFill>
                <a:latin typeface="Microsoft YaHei"/>
              </a:rPr>
              <a:t>lim(f+g) = lim f + lim g，lim(f/g) = A/B (B!=0)。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4572000" cy="64008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lang="zh-CN">
                <a:solidFill>
                  <a:srgbClr val="FFFFFF"/>
                </a:solidFill>
                <a:latin typeface="Microsoft YaHei"/>
              </a:rPr>
              <a:t>夹逼定理（迫敛性）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02C39A"/>
                </a:solidFill>
                <a:latin typeface="Microsoft YaHei"/>
              </a:rPr>
              <a:t>定理陈述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solidFill>
            <a:srgbClr val="2A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F5F5F0"/>
                </a:solidFill>
                <a:latin typeface="Microsoft YaHei"/>
              </a:rPr>
              <a:t>设在 x0 的某去心邻域内：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D4A843"/>
                </a:solidFill>
                <a:latin typeface="Cambria"/>
              </a:rPr>
              <a:t>f(x) &lt;= g(x) &lt;= h(x)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F5F5F0"/>
                </a:solidFill>
                <a:latin typeface="Microsoft YaHei"/>
              </a:rPr>
              <a:t>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en-US">
                <a:solidFill>
                  <a:srgbClr val="FFFFFF"/>
                </a:solidFill>
                <a:latin typeface="Cambria"/>
              </a:rPr>
              <a:t>lim(x-&gt;x0) f(x) = lim(x-&gt;x0) h(x) =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F5F5F0"/>
                </a:solidFill>
                <a:latin typeface="Microsoft YaHei"/>
              </a:rPr>
              <a:t>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mbria"/>
              </a:rPr>
              <a:t>lim(x-&gt;x0) g(x) =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5120640" cy="4572000"/>
          </a:xfrm>
          <a:prstGeom prst="rect">
            <a:avLst/>
          </a:prstGeom>
          <a:solidFill>
            <a:srgbClr val="252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02C39A"/>
                </a:solidFill>
                <a:latin typeface="Microsoft YaHei"/>
              </a:rPr>
              <a:t>直观理解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02C39A"/>
                </a:solidFill>
                <a:latin typeface="Cambria"/>
              </a:rPr>
              <a:t>h(x) -- 上界函数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D4A843"/>
                </a:solidFill>
                <a:latin typeface="Cambria"/>
              </a:rPr>
              <a:t>g(x) -- 被夹函数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02C39A"/>
                </a:solidFill>
                <a:latin typeface="Cambria"/>
              </a:rPr>
              <a:t>f(x) -- 下界函数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F5F5F0"/>
                </a:solidFill>
                <a:latin typeface="Microsoft YaHei"/>
              </a:rPr>
              <a:t>三者共同趋近于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486400"/>
            <a:ext cx="512064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lang="zh-CN">
                <a:solidFill>
                  <a:srgbClr val="F5F5F0"/>
                </a:solidFill>
                <a:latin typeface="Microsoft YaHei"/>
              </a:rPr>
              <a:t> 核心：用两个容易的函数夹住一个困难的函数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6576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lang="zh-CN">
                <a:solidFill>
                  <a:srgbClr val="FFFFFF"/>
                </a:solidFill>
                <a:latin typeface="Microsoft YaHei"/>
              </a:rPr>
              <a:t>例题 - 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D4A843"/>
                </a:solidFill>
                <a:latin typeface="Microsoft YaHei"/>
              </a:rPr>
              <a:t>例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Cambria"/>
              </a:rPr>
              <a:t>证明：lim(x-&gt;2) (3x - 1) = 5</a:t>
            </a:r>
          </a:p>
        </p:txBody>
      </p:sp>
      <p:sp>
        <p:nvSpPr>
          <p:cNvPr id="11" name="Oval 10"/>
          <p:cNvSpPr/>
          <p:nvPr/>
        </p:nvSpPr>
        <p:spPr>
          <a:xfrm>
            <a:off x="1028700" y="272034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lang="zh-CN">
                <a:solidFill>
                  <a:srgbClr val="1E1E2E"/>
                </a:solidFill>
                <a:latin typeface="Microsoft YaHei"/>
              </a:rPr>
              <a:t>Step 1: 分析目标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需证：对任意 eps&gt;0，存在 delta&gt;0，使 0&lt;|x-2|&lt;delta 时，|(3x-1)-5|&lt;eps</a:t>
            </a:r>
          </a:p>
        </p:txBody>
      </p:sp>
      <p:sp>
        <p:nvSpPr>
          <p:cNvPr id="15" name="Oval 14"/>
          <p:cNvSpPr/>
          <p:nvPr/>
        </p:nvSpPr>
        <p:spPr>
          <a:xfrm>
            <a:off x="1028700" y="363474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lang="zh-CN">
                <a:solidFill>
                  <a:srgbClr val="1E1E2E"/>
                </a:solidFill>
                <a:latin typeface="Microsoft YaHei"/>
              </a:rPr>
              <a:t>Step 2: 化简不等式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|(3x-1)-5| = |3x-6| = 3|x-2|，要使 3|x-2|&lt;eps，即 |x-2|&lt;eps/3</a:t>
            </a:r>
          </a:p>
        </p:txBody>
      </p:sp>
      <p:sp>
        <p:nvSpPr>
          <p:cNvPr id="19" name="Oval 18"/>
          <p:cNvSpPr/>
          <p:nvPr/>
        </p:nvSpPr>
        <p:spPr>
          <a:xfrm>
            <a:off x="1028700" y="454914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lang="zh-CN">
                <a:solidFill>
                  <a:srgbClr val="1E1E2E"/>
                </a:solidFill>
                <a:latin typeface="Microsoft YaHei"/>
              </a:rPr>
              <a:t>Step 3: 取 delta=eps/3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当 0&lt;|x-2|&lt;delta=eps/3 时，|(3x-1)-5|=3|x-2|&lt;3*(eps/3)=eps</a:t>
            </a:r>
          </a:p>
        </p:txBody>
      </p:sp>
      <p:sp>
        <p:nvSpPr>
          <p:cNvPr id="23" name="Oval 22"/>
          <p:cNvSpPr/>
          <p:nvPr/>
        </p:nvSpPr>
        <p:spPr>
          <a:xfrm>
            <a:off x="1028700" y="5463540"/>
            <a:ext cx="320040" cy="3200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32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lang="zh-CN">
                <a:solidFill>
                  <a:srgbClr val="1E1E2E"/>
                </a:solidFill>
                <a:latin typeface="Microsoft YaHei"/>
              </a:rPr>
              <a:t>Step 4: 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由 eps-delta 定义，lim(x-&gt;2)(3x-1)=5 得证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6576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lang="zh-CN">
                <a:solidFill>
                  <a:srgbClr val="FFFFFF"/>
                </a:solidFill>
                <a:latin typeface="Microsoft YaHei"/>
              </a:rPr>
              <a:t>例题 - 进阶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D4A843"/>
                </a:solidFill>
                <a:latin typeface="Microsoft YaHei"/>
              </a:rPr>
              <a:t>例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Cambria"/>
              </a:rPr>
              <a:t>求 lim(x-&gt;0) (sin x) /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4937760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zh-CN">
                <a:solidFill>
                  <a:srgbClr val="00A896"/>
                </a:solidFill>
                <a:latin typeface="Microsoft YaHei"/>
              </a:rPr>
              <a:t>解题思路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重要极限，结果为 1。可用几何方法或洛必达法则求解。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46888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468880"/>
            <a:ext cx="73152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zh-CN">
                <a:solidFill>
                  <a:srgbClr val="1E2761"/>
                </a:solidFill>
                <a:latin typeface="Microsoft YaHei"/>
              </a:rPr>
              <a:t>夹逼定理证明要点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在 (0, pi/2) 内：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en-US">
                <a:solidFill>
                  <a:srgbClr val="00A896"/>
                </a:solidFill>
                <a:latin typeface="Cambria"/>
              </a:rPr>
              <a:t>cos x &lt; (sin x)/x &lt;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而 lim(x-&gt;0) cos x = 1，由夹逼定理得证。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1E2E"/>
                </a:solidFill>
                <a:latin typeface="Microsoft YaHei"/>
              </a:rPr>
              <a:t>常用重要极限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en-US">
                <a:solidFill>
                  <a:srgbClr val="1E2761"/>
                </a:solidFill>
                <a:latin typeface="Cambria"/>
              </a:rPr>
              <a:t>lim(x-&gt;0) (sin x)/x 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en-US">
                <a:solidFill>
                  <a:srgbClr val="1E2761"/>
                </a:solidFill>
                <a:latin typeface="Cambria"/>
              </a:rPr>
              <a:t>lim(x-&gt;inf) (1+1/x)^x = 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en-US">
                <a:solidFill>
                  <a:srgbClr val="1E2761"/>
                </a:solidFill>
                <a:latin typeface="Cambria"/>
              </a:rPr>
              <a:t>lim(x-&gt;0) (e^x-1)/x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en-US">
                <a:solidFill>
                  <a:srgbClr val="1E2761"/>
                </a:solidFill>
                <a:latin typeface="Cambria"/>
              </a:rPr>
              <a:t>lim(x-&gt;0) (1-cos x)/x^2 = 1/2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6576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lang="en-US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lang="zh-CN">
                <a:solidFill>
                  <a:srgbClr val="FFFFFF"/>
                </a:solidFill>
                <a:latin typeface="Microsoft YaHei"/>
              </a:rPr>
              <a:t>例题 - 综合应用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914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D4A843"/>
                </a:solidFill>
                <a:latin typeface="Microsoft YaHei"/>
              </a:rPr>
              <a:t>例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lang="zh-CN">
                <a:solidFill>
                  <a:srgbClr val="1E2761"/>
                </a:solidFill>
                <a:latin typeface="Cambria"/>
              </a:rPr>
              <a:t>求 lim(x-&gt;0) (sqrt(1+x) - 1) /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5120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73152" cy="3474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00A896"/>
                </a:solidFill>
                <a:latin typeface="Microsoft YaHei"/>
              </a:rPr>
              <a:t>方法一：有理化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分子有理化：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en-US">
                <a:solidFill>
                  <a:srgbClr val="1E2761"/>
                </a:solidFill>
                <a:latin typeface="Cambria"/>
              </a:rPr>
              <a:t>((1+x)-1)/(x*(sqrt(1+x)+1))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en-US">
                <a:solidFill>
                  <a:srgbClr val="1E2761"/>
                </a:solidFill>
                <a:latin typeface="Cambria"/>
              </a:rPr>
              <a:t>= x/(x*(sqrt(1+x)+1))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en-US">
                <a:solidFill>
                  <a:srgbClr val="1E2761"/>
                </a:solidFill>
                <a:latin typeface="Cambria"/>
              </a:rPr>
              <a:t>= 1/(sqrt(1+x)+1)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zh-CN">
                <a:solidFill>
                  <a:srgbClr val="D4A843"/>
                </a:solidFill>
                <a:latin typeface="Cambria"/>
              </a:rPr>
              <a:t>-&gt; 1/(1+1) = 1/2 (当 x-&gt;0)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560320"/>
            <a:ext cx="5120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560320"/>
            <a:ext cx="73152" cy="3474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D4A843"/>
                </a:solidFill>
                <a:latin typeface="Microsoft YaHei"/>
              </a:rPr>
              <a:t>方法二：等价无穷小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zh-CN">
                <a:solidFill>
                  <a:srgbClr val="1E1E2E"/>
                </a:solidFill>
                <a:latin typeface="Microsoft YaHei"/>
              </a:rPr>
              <a:t>利用等价无穷小替换：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zh-CN">
                <a:solidFill>
                  <a:srgbClr val="1E2761"/>
                </a:solidFill>
                <a:latin typeface="Cambria"/>
              </a:rPr>
              <a:t>当 x-&gt;0 时：(1+x)^a-1 ~ a*x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1E1E2E"/>
                </a:solidFill>
                <a:latin typeface="Microsoft YaHei"/>
              </a:rPr>
              <a:t>取 a = 1/2：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26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en-US">
                <a:solidFill>
                  <a:srgbClr val="1E2761"/>
                </a:solidFill>
                <a:latin typeface="Cambria"/>
              </a:rPr>
              <a:t>sqrt(1+x)-1 ~ (1/2)*x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zh-CN">
                <a:solidFill>
                  <a:srgbClr val="D4A843"/>
                </a:solidFill>
                <a:latin typeface="Cambria"/>
              </a:rPr>
              <a:t>原式 ~ (1/2)*x/x = 1/2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lang="zh-CN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en-US">
                <a:solidFill>
                  <a:srgbClr val="02C39A"/>
                </a:solidFill>
                <a:latin typeface="Calibri"/>
              </a:rPr>
              <a:t>Summary: Limits of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en-US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FFFFFF"/>
                </a:solidFill>
                <a:latin typeface="Microsoft YaHei"/>
              </a:rPr>
              <a:t>eps-delta 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51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6B7B8D"/>
                </a:solidFill>
                <a:latin typeface="Microsoft YaHei"/>
              </a:rPr>
              <a:t>函数极限的严格数学定义，是分析学的基础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46120"/>
            <a:ext cx="1005840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en-US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FFFFFF"/>
                </a:solidFill>
                <a:latin typeface="Microsoft YaHei"/>
              </a:rPr>
              <a:t>四大性质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6B7B8D"/>
                </a:solidFill>
                <a:latin typeface="Microsoft YaHei"/>
              </a:rPr>
              <a:t>唯一性、有界性、保号性、四则运算法则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23360"/>
            <a:ext cx="1005840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en-US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FFFFFF"/>
                </a:solidFill>
                <a:latin typeface="Microsoft YaHei"/>
              </a:rPr>
              <a:t>夹逼定理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6B7B8D"/>
                </a:solidFill>
                <a:latin typeface="Microsoft YaHei"/>
              </a:rPr>
              <a:t>用两个易求极限的函数夹住目标函数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800600"/>
            <a:ext cx="1005840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en-US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FFFFFF"/>
                </a:solidFill>
                <a:latin typeface="Microsoft YaHei"/>
              </a:rPr>
              <a:t>重要极限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83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6B7B8D"/>
                </a:solidFill>
                <a:latin typeface="Microsoft YaHei"/>
              </a:rPr>
              <a:t>lim(sin x)/x=1 等是计算的基础工具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77840"/>
            <a:ext cx="1005840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en-US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zh-CN">
                <a:solidFill>
                  <a:srgbClr val="FFFFFF"/>
                </a:solidFill>
                <a:latin typeface="Microsoft YaHei"/>
              </a:rPr>
              <a:t>解题策略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760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zh-CN">
                <a:solidFill>
                  <a:srgbClr val="6B7B8D"/>
                </a:solidFill>
                <a:latin typeface="Microsoft YaHei"/>
              </a:rPr>
              <a:t>有理化、等价无穷小替换、泰勒展开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lang="zh-CN">
                <a:solidFill>
                  <a:srgbClr val="02C39A"/>
                </a:solidFill>
                <a:latin typeface="Calibri"/>
              </a:rPr>
              <a:t>THANK YOU - 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